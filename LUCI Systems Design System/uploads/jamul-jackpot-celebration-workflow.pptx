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125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91695" cy="1371600"/>
          </a:xfrm>
          <a:prstGeom prst="rect">
            <a:avLst/>
          </a:prstGeom>
          <a:solidFill>
            <a:srgbClr val="10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400">
                <a:solidFill>
                  <a:srgbClr val="C7D0D5"/>
                </a:solidFill>
                <a:latin typeface="Segoe UI"/>
              </a:rPr>
              <a:t>CLIENT WORKFLOW — IMPLEMENTATION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F8FA"/>
                </a:solidFill>
                <a:latin typeface="Segoe UI Semibold"/>
              </a:rPr>
              <a:t>Jamul Casino — Jackpot Celebration on LUCI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0CCD2"/>
                </a:solidFill>
                <a:latin typeface="Segoe UI"/>
              </a:rPr>
              <a:t>Four-phase celebration concept for Jamul Casino — layered from a single audio trigger up through a fully data-driven LinkZone video wall takeover.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0901" y="369027"/>
            <a:ext cx="10972" cy="640080"/>
          </a:xfrm>
          <a:prstGeom prst="rect">
            <a:avLst/>
          </a:prstGeom>
          <a:solidFill>
            <a:srgbClr val="4A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581912"/>
            <a:ext cx="11460175" cy="777240"/>
          </a:xfrm>
          <a:prstGeom prst="rect">
            <a:avLst/>
          </a:prstGeom>
          <a:solidFill>
            <a:srgbClr val="F6F9FB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581912"/>
            <a:ext cx="45720" cy="777240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550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314955"/>
                </a:solidFill>
                <a:latin typeface="Segoe UI"/>
              </a:rPr>
              <a:t>WORKING SESSION — WHAT WE WANT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Confirm what is included in each phase — and what is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Expectations.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Align on guest experience, operator controls, and the technical 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5876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Roles &amp;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5876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Identify owners on the Jamul and LUCI sides for every workstream.</a:t>
            </a:r>
          </a:p>
        </p:txBody>
      </p:sp>
      <p:sp>
        <p:nvSpPr>
          <p:cNvPr id="21" name="Rectangle 20">
            <a:hlinkClick r:id="rId2" action="ppaction://hlinksldjump"/>
          </p:cNvPr>
          <p:cNvSpPr/>
          <p:nvPr/>
        </p:nvSpPr>
        <p:spPr>
          <a:xfrm>
            <a:off x="365760" y="2542032"/>
            <a:ext cx="2796463" cy="868680"/>
          </a:xfrm>
          <a:prstGeom prst="rect">
            <a:avLst/>
          </a:prstGeom>
          <a:solidFill>
            <a:srgbClr val="314955"/>
          </a:solidFill>
          <a:ln w="9525">
            <a:solidFill>
              <a:srgbClr val="314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D7E0E5"/>
                </a:solidFill>
                <a:latin typeface="Consolas"/>
              </a:rPr>
              <a:t>PHASE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8FA"/>
                </a:solidFill>
                <a:latin typeface="Segoe UI Semibold"/>
              </a:rPr>
              <a:t>Jackpot Trigger Connection</a:t>
            </a:r>
          </a:p>
        </p:txBody>
      </p:sp>
      <p:sp>
        <p:nvSpPr>
          <p:cNvPr id="24" name="Rectangle 23">
            <a:hlinkClick r:id="rId3" action="ppaction://hlinksldjump"/>
          </p:cNvPr>
          <p:cNvSpPr/>
          <p:nvPr/>
        </p:nvSpPr>
        <p:spPr>
          <a:xfrm>
            <a:off x="3253663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53663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18255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8255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18242B"/>
                </a:solidFill>
                <a:latin typeface="Segoe UI Semibold"/>
              </a:rPr>
              <a:t>Multi-Tier Jackpot Triggers</a:t>
            </a:r>
          </a:p>
        </p:txBody>
      </p:sp>
      <p:sp>
        <p:nvSpPr>
          <p:cNvPr id="28" name="Rectangle 27">
            <a:hlinkClick r:id="rId4" action="ppaction://hlinksldjump"/>
          </p:cNvPr>
          <p:cNvSpPr/>
          <p:nvPr/>
        </p:nvSpPr>
        <p:spPr>
          <a:xfrm>
            <a:off x="6141567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1567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6159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6159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TelemetryTV Video Override</a:t>
            </a:r>
          </a:p>
        </p:txBody>
      </p:sp>
      <p:sp>
        <p:nvSpPr>
          <p:cNvPr id="32" name="Rectangle 31">
            <a:hlinkClick r:id="rId5" action="ppaction://hlinksldjump"/>
          </p:cNvPr>
          <p:cNvSpPr/>
          <p:nvPr/>
        </p:nvSpPr>
        <p:spPr>
          <a:xfrm>
            <a:off x="9029471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29471" y="2542032"/>
            <a:ext cx="2796463" cy="73152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4063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4063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LinkZone Video Wall Takeover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93592"/>
            <a:ext cx="11460175" cy="28986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593592"/>
            <a:ext cx="11460175" cy="329184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6674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4A5B65"/>
                </a:solidFill>
                <a:latin typeface="Consolas"/>
              </a:rPr>
              <a:t>PHASE 01 — DETAIL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32504"/>
            <a:ext cx="128016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400" b="1">
                <a:solidFill>
                  <a:srgbClr val="314955"/>
                </a:solidFill>
                <a:latin typeface="Consolas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087368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8242B"/>
                </a:solidFill>
                <a:latin typeface="Segoe UI Semibold"/>
              </a:rPr>
              <a:t>Jackpot Trigger Connection &amp; Audio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471416"/>
            <a:ext cx="981425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B65"/>
                </a:solidFill>
                <a:latin typeface="Segoe UI"/>
              </a:rPr>
              <a:t>Establish the trigger pipeline from the slot/jackpot system into LUCI's Scripting Engine and route audio playback through Q-SYS.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5038344"/>
            <a:ext cx="9814255" cy="9144"/>
          </a:xfrm>
          <a:prstGeom prst="rect">
            <a:avLst/>
          </a:prstGeom>
          <a:solidFill>
            <a:srgbClr val="E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0" y="5093208"/>
            <a:ext cx="39257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SYSTEMS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5349240"/>
            <a:ext cx="12545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56816" y="5385816"/>
            <a:ext cx="9985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Jackpot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6508" y="5349240"/>
            <a:ext cx="175381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84524" y="5385816"/>
            <a:ext cx="149778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LUCI Scripting Engine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5660136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56816" y="5696712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Q-SYS Core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71216" y="5660136"/>
            <a:ext cx="153984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99232" y="5696712"/>
            <a:ext cx="1283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Audio File Library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214" y="5093208"/>
            <a:ext cx="5397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SCOPE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214" y="5349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094" y="5340096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Configure jackpot trigger ingress into LUCI Scripting Engine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214" y="560527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094" y="5596128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Define audio file location and naming convention on Q-SYS 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214" y="5861304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8094" y="5852160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Author LUCI script to dispatch the audio cue to Q-SYS on trigger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214" y="6117336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8094" y="6108192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Validate end-to-end fire test on the casino floor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83680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8C95"/>
                </a:solidFill>
                <a:latin typeface="Segoe UI"/>
              </a:rPr>
              <a:t>Prepared for Jamul Casino · LUCI scope &amp; responsibilities discussion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335" y="6583680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7C8C95"/>
                </a:solidFill>
                <a:latin typeface="Segoe UI"/>
              </a:rPr>
              <a:t>Phase 01  ·  Draft v0.1</a:t>
            </a:r>
          </a:p>
        </p:txBody>
      </p:sp>
      <p:pic>
        <p:nvPicPr>
          <p:cNvPr id="65" name="Picture 64" descr="jamul-stacked.png">
            <a:extLst>
              <a:ext uri="{FF2B5EF4-FFF2-40B4-BE49-F238E27FC236}">
                <a16:creationId xmlns:a16="http://schemas.microsoft.com/office/drawing/2014/main" id="{733BDB01-090F-A330-E7E6-07D756747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434" y="218151"/>
            <a:ext cx="946404" cy="630936"/>
          </a:xfrm>
          <a:prstGeom prst="rect">
            <a:avLst/>
          </a:prstGeom>
        </p:spPr>
      </p:pic>
      <p:pic>
        <p:nvPicPr>
          <p:cNvPr id="66" name="Picture 65" descr="luci-wordmark-white.png">
            <a:extLst>
              <a:ext uri="{FF2B5EF4-FFF2-40B4-BE49-F238E27FC236}">
                <a16:creationId xmlns:a16="http://schemas.microsoft.com/office/drawing/2014/main" id="{C25E4D08-A6C4-BD4F-9825-CCF98F0CC3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598" y="487899"/>
            <a:ext cx="1908313" cy="411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91695" cy="1371600"/>
          </a:xfrm>
          <a:prstGeom prst="rect">
            <a:avLst/>
          </a:prstGeom>
          <a:solidFill>
            <a:srgbClr val="10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400">
                <a:solidFill>
                  <a:srgbClr val="C7D0D5"/>
                </a:solidFill>
                <a:latin typeface="Segoe UI"/>
              </a:rPr>
              <a:t>CLIENT WORKFLOW — IMPLEMENTATION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F8FA"/>
                </a:solidFill>
                <a:latin typeface="Segoe UI Semibold"/>
              </a:rPr>
              <a:t>Jamul Casino — Jackpot Celebration on LUCI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778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C0CCD2"/>
                </a:solidFill>
                <a:latin typeface="Segoe UI"/>
              </a:rPr>
              <a:t>Four-phase celebration concept for Jamul Casino — layered from a single audio trigger up through a fully data-driven </a:t>
            </a:r>
            <a:r>
              <a:rPr sz="1050" b="0" dirty="0" err="1">
                <a:solidFill>
                  <a:srgbClr val="C0CCD2"/>
                </a:solidFill>
                <a:latin typeface="Segoe UI"/>
              </a:rPr>
              <a:t>LinkZone</a:t>
            </a:r>
            <a:r>
              <a:rPr sz="1050" b="0" dirty="0">
                <a:solidFill>
                  <a:srgbClr val="C0CCD2"/>
                </a:solidFill>
                <a:latin typeface="Segoe UI"/>
              </a:rPr>
              <a:t> video wall takeover.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81912"/>
            <a:ext cx="11460175" cy="777240"/>
          </a:xfrm>
          <a:prstGeom prst="rect">
            <a:avLst/>
          </a:prstGeom>
          <a:solidFill>
            <a:srgbClr val="F6F9FB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581912"/>
            <a:ext cx="45720" cy="777240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550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314955"/>
                </a:solidFill>
                <a:latin typeface="Segoe UI"/>
              </a:rPr>
              <a:t>WORKING SESSION — WHAT WE WANT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Confirm what is included in each phase — and what is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Expectations.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Align on guest experience, operator controls, and the technical 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5876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Roles &amp;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5876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Identify owners on the Jamul and LUCI sides for every workstream.</a:t>
            </a:r>
          </a:p>
        </p:txBody>
      </p:sp>
      <p:sp>
        <p:nvSpPr>
          <p:cNvPr id="21" name="Rectangle 20">
            <a:hlinkClick r:id="rId2" action="ppaction://hlinksldjump"/>
          </p:cNvPr>
          <p:cNvSpPr/>
          <p:nvPr/>
        </p:nvSpPr>
        <p:spPr>
          <a:xfrm>
            <a:off x="365760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Jackpot Trigger Connection</a:t>
            </a:r>
          </a:p>
        </p:txBody>
      </p:sp>
      <p:sp>
        <p:nvSpPr>
          <p:cNvPr id="25" name="Rectangle 24">
            <a:hlinkClick r:id="rId3" action="ppaction://hlinksldjump"/>
          </p:cNvPr>
          <p:cNvSpPr/>
          <p:nvPr/>
        </p:nvSpPr>
        <p:spPr>
          <a:xfrm>
            <a:off x="3253663" y="2542032"/>
            <a:ext cx="2796463" cy="868680"/>
          </a:xfrm>
          <a:prstGeom prst="rect">
            <a:avLst/>
          </a:prstGeom>
          <a:solidFill>
            <a:srgbClr val="314955"/>
          </a:solidFill>
          <a:ln w="9525">
            <a:solidFill>
              <a:srgbClr val="314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18255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D7E0E5"/>
                </a:solidFill>
                <a:latin typeface="Consolas"/>
              </a:rPr>
              <a:t>PHASE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8255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8FA"/>
                </a:solidFill>
                <a:latin typeface="Segoe UI Semibold"/>
              </a:rPr>
              <a:t>Multi-Tier Jackpot Triggers</a:t>
            </a:r>
          </a:p>
        </p:txBody>
      </p:sp>
      <p:sp>
        <p:nvSpPr>
          <p:cNvPr id="28" name="Rectangle 27">
            <a:hlinkClick r:id="rId4" action="ppaction://hlinksldjump"/>
          </p:cNvPr>
          <p:cNvSpPr/>
          <p:nvPr/>
        </p:nvSpPr>
        <p:spPr>
          <a:xfrm>
            <a:off x="6141567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1567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6159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6159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TelemetryTV Video Override</a:t>
            </a:r>
          </a:p>
        </p:txBody>
      </p:sp>
      <p:sp>
        <p:nvSpPr>
          <p:cNvPr id="32" name="Rectangle 31">
            <a:hlinkClick r:id="rId5" action="ppaction://hlinksldjump"/>
          </p:cNvPr>
          <p:cNvSpPr/>
          <p:nvPr/>
        </p:nvSpPr>
        <p:spPr>
          <a:xfrm>
            <a:off x="9029471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29471" y="2542032"/>
            <a:ext cx="2796463" cy="73152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4063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4063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LinkZone Video Wall Takeover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93592"/>
            <a:ext cx="11460175" cy="28986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593592"/>
            <a:ext cx="11460175" cy="329184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6674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4A5B65"/>
                </a:solidFill>
                <a:latin typeface="Consolas"/>
              </a:rPr>
              <a:t>PHASE 02 — DETAIL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32504"/>
            <a:ext cx="128016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400" b="1">
                <a:solidFill>
                  <a:srgbClr val="314955"/>
                </a:solidFill>
                <a:latin typeface="Consola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087368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8242B"/>
                </a:solidFill>
                <a:latin typeface="Segoe UI Semibold"/>
              </a:rPr>
              <a:t>Multi-Tier Jackpot Triggers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471416"/>
            <a:ext cx="981425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B65"/>
                </a:solidFill>
                <a:latin typeface="Segoe UI"/>
              </a:rPr>
              <a:t>Layer tiered logic so different jackpot win amounts fire distinct celebrations — from minor pays to top-award marquee events.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5038344"/>
            <a:ext cx="9814255" cy="9144"/>
          </a:xfrm>
          <a:prstGeom prst="rect">
            <a:avLst/>
          </a:prstGeom>
          <a:solidFill>
            <a:srgbClr val="E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0" y="5093208"/>
            <a:ext cx="39257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SYSTEMS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5349240"/>
            <a:ext cx="175381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56816" y="5385816"/>
            <a:ext cx="149778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LUCI Scripting Engine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5771" y="5349240"/>
            <a:ext cx="96926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83787" y="5385816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Q-SYS 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5660136"/>
            <a:ext cx="153984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56816" y="5696712"/>
            <a:ext cx="1283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Tier Threshold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214" y="5093208"/>
            <a:ext cx="5397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SCOPE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5214" y="5349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8094" y="5340096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Workshop tier thresholds with Jamul stakeholders (e.g. Minor / Major / Grand)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214" y="560527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094" y="5596128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Extend LUCI script with branched logic per tier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214" y="5861304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094" y="5852160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Map a unique audio bed and duration to each tier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214" y="6117336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8094" y="6108192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Confirm dB targets and zone routing per tier with Q-SYS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583680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8C95"/>
                </a:solidFill>
                <a:latin typeface="Segoe UI"/>
              </a:rPr>
              <a:t>Prepared for Jamul Casino · LUCI scope &amp; responsibilities discussion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8335" y="6583680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7C8C95"/>
                </a:solidFill>
                <a:latin typeface="Segoe UI"/>
              </a:rPr>
              <a:t>Phase 02  ·  Draft v0.1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EEC75C5-CE4F-7F2C-9D94-74C5AD53A50E}"/>
              </a:ext>
            </a:extLst>
          </p:cNvPr>
          <p:cNvSpPr/>
          <p:nvPr/>
        </p:nvSpPr>
        <p:spPr>
          <a:xfrm>
            <a:off x="10780901" y="369027"/>
            <a:ext cx="10972" cy="640080"/>
          </a:xfrm>
          <a:prstGeom prst="rect">
            <a:avLst/>
          </a:prstGeom>
          <a:solidFill>
            <a:srgbClr val="4A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jamul-stacked.png">
            <a:extLst>
              <a:ext uri="{FF2B5EF4-FFF2-40B4-BE49-F238E27FC236}">
                <a16:creationId xmlns:a16="http://schemas.microsoft.com/office/drawing/2014/main" id="{0BED97FD-9D67-3BC8-35AC-91C6997F3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434" y="218151"/>
            <a:ext cx="946404" cy="630936"/>
          </a:xfrm>
          <a:prstGeom prst="rect">
            <a:avLst/>
          </a:prstGeom>
        </p:spPr>
      </p:pic>
      <p:pic>
        <p:nvPicPr>
          <p:cNvPr id="63" name="Picture 62" descr="luci-wordmark-white.png">
            <a:extLst>
              <a:ext uri="{FF2B5EF4-FFF2-40B4-BE49-F238E27FC236}">
                <a16:creationId xmlns:a16="http://schemas.microsoft.com/office/drawing/2014/main" id="{86BD9811-4D46-8746-81DB-FE2003BC8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598" y="487899"/>
            <a:ext cx="1908313" cy="411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91695" cy="1371600"/>
          </a:xfrm>
          <a:prstGeom prst="rect">
            <a:avLst/>
          </a:prstGeom>
          <a:solidFill>
            <a:srgbClr val="10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400">
                <a:solidFill>
                  <a:srgbClr val="C7D0D5"/>
                </a:solidFill>
                <a:latin typeface="Segoe UI"/>
              </a:rPr>
              <a:t>CLIENT WORKFLOW — IMPLEMENTATION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F8FA"/>
                </a:solidFill>
                <a:latin typeface="Segoe UI Semibold"/>
              </a:rPr>
              <a:t>Jamul Casino — Jackpot Celebration on LUCI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0CCD2"/>
                </a:solidFill>
                <a:latin typeface="Segoe UI"/>
              </a:rPr>
              <a:t>Four-phase celebration concept for Jamul Casino — layered from a single audio trigger up through a fully data-driven LinkZone video wall takeover.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81912"/>
            <a:ext cx="11460175" cy="777240"/>
          </a:xfrm>
          <a:prstGeom prst="rect">
            <a:avLst/>
          </a:prstGeom>
          <a:solidFill>
            <a:srgbClr val="F6F9FB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581912"/>
            <a:ext cx="45720" cy="777240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550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314955"/>
                </a:solidFill>
                <a:latin typeface="Segoe UI"/>
              </a:rPr>
              <a:t>WORKING SESSION — WHAT WE WANT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Confirm what is included in each phase — and what is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Expectations.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Align on guest experience, operator controls, and the technical 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5876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Roles &amp;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5876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Identify owners on the Jamul and LUCI sides for every workstream.</a:t>
            </a:r>
          </a:p>
        </p:txBody>
      </p:sp>
      <p:sp>
        <p:nvSpPr>
          <p:cNvPr id="21" name="Rectangle 20">
            <a:hlinkClick r:id="rId2" action="ppaction://hlinksldjump"/>
          </p:cNvPr>
          <p:cNvSpPr/>
          <p:nvPr/>
        </p:nvSpPr>
        <p:spPr>
          <a:xfrm>
            <a:off x="365760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Jackpot Trigger Connection</a:t>
            </a:r>
          </a:p>
        </p:txBody>
      </p:sp>
      <p:sp>
        <p:nvSpPr>
          <p:cNvPr id="25" name="Rectangle 24">
            <a:hlinkClick r:id="rId3" action="ppaction://hlinksldjump"/>
          </p:cNvPr>
          <p:cNvSpPr/>
          <p:nvPr/>
        </p:nvSpPr>
        <p:spPr>
          <a:xfrm>
            <a:off x="3253663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53663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8255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8255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Multi-Tier Jackpot Triggers</a:t>
            </a:r>
          </a:p>
        </p:txBody>
      </p:sp>
      <p:sp>
        <p:nvSpPr>
          <p:cNvPr id="29" name="Rectangle 28">
            <a:hlinkClick r:id="rId4" action="ppaction://hlinksldjump"/>
          </p:cNvPr>
          <p:cNvSpPr/>
          <p:nvPr/>
        </p:nvSpPr>
        <p:spPr>
          <a:xfrm>
            <a:off x="6141567" y="2542032"/>
            <a:ext cx="2796463" cy="868680"/>
          </a:xfrm>
          <a:prstGeom prst="rect">
            <a:avLst/>
          </a:prstGeom>
          <a:solidFill>
            <a:srgbClr val="314955"/>
          </a:solidFill>
          <a:ln w="9525">
            <a:solidFill>
              <a:srgbClr val="314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6159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D7E0E5"/>
                </a:solidFill>
                <a:latin typeface="Consolas"/>
              </a:rPr>
              <a:t>PHASE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6159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F8FA"/>
                </a:solidFill>
                <a:latin typeface="Segoe UI Semibold"/>
              </a:rPr>
              <a:t>TelemetryTV Video Override</a:t>
            </a:r>
          </a:p>
        </p:txBody>
      </p:sp>
      <p:sp>
        <p:nvSpPr>
          <p:cNvPr id="32" name="Rectangle 31">
            <a:hlinkClick r:id="rId5" action="ppaction://hlinksldjump"/>
          </p:cNvPr>
          <p:cNvSpPr/>
          <p:nvPr/>
        </p:nvSpPr>
        <p:spPr>
          <a:xfrm>
            <a:off x="9029471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29471" y="2542032"/>
            <a:ext cx="2796463" cy="73152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4063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4063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LinkZone Video Wall Takeover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93592"/>
            <a:ext cx="11460175" cy="28986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593592"/>
            <a:ext cx="11460175" cy="329184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6674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4A5B65"/>
                </a:solidFill>
                <a:latin typeface="Consolas"/>
              </a:rPr>
              <a:t>PHASE 03 — DETAIL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32504"/>
            <a:ext cx="128016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400" b="1">
                <a:solidFill>
                  <a:srgbClr val="314955"/>
                </a:solidFill>
                <a:latin typeface="Consola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087368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8242B"/>
                </a:solidFill>
                <a:latin typeface="Segoe UI Semibold"/>
              </a:rPr>
              <a:t>TelemetryTV Video Override + LUCI Display Preset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471416"/>
            <a:ext cx="981425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B65"/>
                </a:solidFill>
                <a:latin typeface="Segoe UI"/>
              </a:rPr>
              <a:t>Trigger a TelemetryTV playlist override on jackpot fire and expose a LUCI preset so the operator selects which displays join the celebration.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5038344"/>
            <a:ext cx="9814255" cy="9144"/>
          </a:xfrm>
          <a:prstGeom prst="rect">
            <a:avLst/>
          </a:prstGeom>
          <a:solidFill>
            <a:srgbClr val="E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0" y="5093208"/>
            <a:ext cx="39257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SYSTEMS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5349240"/>
            <a:ext cx="175381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56816" y="5385816"/>
            <a:ext cx="149778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LUCI Scripting Engine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5771" y="5349240"/>
            <a:ext cx="1040587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83787" y="5385816"/>
            <a:ext cx="7845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TelemetryTV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5660136"/>
            <a:ext cx="146852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56816" y="5696712"/>
            <a:ext cx="121249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Display Endpoints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70478" y="5660136"/>
            <a:ext cx="1040587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98494" y="5696712"/>
            <a:ext cx="7845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Operator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214" y="5093208"/>
            <a:ext cx="5397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SCOPE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214" y="5349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094" y="5340096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TelemetryTV API integration for playlist override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214" y="560527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094" y="5596128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Build LUCI preset to pick included display zones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214" y="5861304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8094" y="5852160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Operator-facing UI for celebration scope selection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214" y="6117336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14955"/>
                </a:solidFill>
                <a:latin typeface="Consola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8094" y="6108192"/>
            <a:ext cx="5214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8242B"/>
                </a:solidFill>
                <a:latin typeface="Segoe UI"/>
              </a:rPr>
              <a:t>Override-and-restore behavior with hard timeout </a:t>
            </a:r>
            <a:r>
              <a:rPr lang="en-US" sz="1050" b="0" dirty="0">
                <a:solidFill>
                  <a:srgbClr val="18242B"/>
                </a:solidFill>
                <a:latin typeface="Segoe UI"/>
              </a:rPr>
              <a:t>reverts</a:t>
            </a:r>
            <a:endParaRPr sz="1050" b="0" dirty="0">
              <a:solidFill>
                <a:srgbClr val="18242B"/>
              </a:solidFill>
              <a:latin typeface="Segoe U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65760" y="6583680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8C95"/>
                </a:solidFill>
                <a:latin typeface="Segoe UI"/>
              </a:rPr>
              <a:t>Prepared for Jamul Casino · LUCI scope &amp; responsibilities discussion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335" y="6583680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7C8C95"/>
                </a:solidFill>
                <a:latin typeface="Segoe UI"/>
              </a:rPr>
              <a:t>Phase 03  ·  Draft v0.1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1DE5B5D-D10A-35D2-7F80-69A378DC7A49}"/>
              </a:ext>
            </a:extLst>
          </p:cNvPr>
          <p:cNvSpPr/>
          <p:nvPr/>
        </p:nvSpPr>
        <p:spPr>
          <a:xfrm>
            <a:off x="10780901" y="369027"/>
            <a:ext cx="10972" cy="640080"/>
          </a:xfrm>
          <a:prstGeom prst="rect">
            <a:avLst/>
          </a:prstGeom>
          <a:solidFill>
            <a:srgbClr val="4A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jamul-stacked.png">
            <a:extLst>
              <a:ext uri="{FF2B5EF4-FFF2-40B4-BE49-F238E27FC236}">
                <a16:creationId xmlns:a16="http://schemas.microsoft.com/office/drawing/2014/main" id="{89195CD9-585B-B4AC-4B7F-9E1CBBA4C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434" y="218151"/>
            <a:ext cx="946404" cy="630936"/>
          </a:xfrm>
          <a:prstGeom prst="rect">
            <a:avLst/>
          </a:prstGeom>
        </p:spPr>
      </p:pic>
      <p:pic>
        <p:nvPicPr>
          <p:cNvPr id="67" name="Picture 66" descr="luci-wordmark-white.png">
            <a:extLst>
              <a:ext uri="{FF2B5EF4-FFF2-40B4-BE49-F238E27FC236}">
                <a16:creationId xmlns:a16="http://schemas.microsoft.com/office/drawing/2014/main" id="{53EBF058-A648-E63A-BD67-5A1BF35BCD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598" y="487899"/>
            <a:ext cx="1908313" cy="411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8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91695" cy="1371600"/>
          </a:xfrm>
          <a:prstGeom prst="rect">
            <a:avLst/>
          </a:prstGeom>
          <a:solidFill>
            <a:srgbClr val="10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400">
                <a:solidFill>
                  <a:srgbClr val="C7D0D5"/>
                </a:solidFill>
                <a:latin typeface="Segoe UI"/>
              </a:rPr>
              <a:t>CLIENT WORKFLOW — IMPLEMENTATION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F8FA"/>
                </a:solidFill>
                <a:latin typeface="Segoe UI Semibold"/>
              </a:rPr>
              <a:t>Jamul Casino — Jackpot Celebration on LUCI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0CCD2"/>
                </a:solidFill>
                <a:latin typeface="Segoe UI"/>
              </a:rPr>
              <a:t>Four-phase celebration concept for Jamul Casino — layered from a single audio trigger up through a fully data-driven LinkZone video wall takeover.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81912"/>
            <a:ext cx="11460175" cy="777240"/>
          </a:xfrm>
          <a:prstGeom prst="rect">
            <a:avLst/>
          </a:prstGeom>
          <a:solidFill>
            <a:srgbClr val="F6F9FB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581912"/>
            <a:ext cx="45720" cy="777240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550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314955"/>
                </a:solidFill>
                <a:latin typeface="Segoe UI"/>
              </a:rPr>
              <a:t>WORKING SESSION — WHAT WE WANT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Confirm what is included in each phase — and what is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Expectations.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Align on guest experience, operator controls, and the technical 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5876" y="1929384"/>
            <a:ext cx="36371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242B"/>
                </a:solidFill>
                <a:latin typeface="Segoe UI"/>
              </a:rPr>
              <a:t>Roles &amp;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5876" y="2130552"/>
            <a:ext cx="3637178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A5B65"/>
                </a:solidFill>
                <a:latin typeface="Segoe UI"/>
              </a:rPr>
              <a:t>Identify owners on the Jamul and LUCI sides for every workstream.</a:t>
            </a:r>
          </a:p>
        </p:txBody>
      </p:sp>
      <p:sp>
        <p:nvSpPr>
          <p:cNvPr id="21" name="Rectangle 20">
            <a:hlinkClick r:id="rId2" action="ppaction://hlinksldjump"/>
          </p:cNvPr>
          <p:cNvSpPr/>
          <p:nvPr/>
        </p:nvSpPr>
        <p:spPr>
          <a:xfrm>
            <a:off x="365760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18242B"/>
                </a:solidFill>
                <a:latin typeface="Segoe UI Semibold"/>
              </a:rPr>
              <a:t>Jackpot Trigger Connection</a:t>
            </a:r>
          </a:p>
        </p:txBody>
      </p:sp>
      <p:sp>
        <p:nvSpPr>
          <p:cNvPr id="25" name="Rectangle 24">
            <a:hlinkClick r:id="rId3" action="ppaction://hlinksldjump"/>
          </p:cNvPr>
          <p:cNvSpPr/>
          <p:nvPr/>
        </p:nvSpPr>
        <p:spPr>
          <a:xfrm>
            <a:off x="3253663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53663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8255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8255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Multi-Tier Jackpot Triggers</a:t>
            </a:r>
          </a:p>
        </p:txBody>
      </p:sp>
      <p:sp>
        <p:nvSpPr>
          <p:cNvPr id="29" name="Rectangle 28">
            <a:hlinkClick r:id="rId4" action="ppaction://hlinksldjump"/>
          </p:cNvPr>
          <p:cNvSpPr/>
          <p:nvPr/>
        </p:nvSpPr>
        <p:spPr>
          <a:xfrm>
            <a:off x="6141567" y="2542032"/>
            <a:ext cx="2796463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41567" y="2542032"/>
            <a:ext cx="2796463" cy="73152"/>
          </a:xfrm>
          <a:prstGeom prst="rect">
            <a:avLst/>
          </a:prstGeom>
          <a:solidFill>
            <a:srgbClr val="314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6159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PHASE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6159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8242B"/>
                </a:solidFill>
                <a:latin typeface="Segoe UI Semibold"/>
              </a:rPr>
              <a:t>TelemetryTV Video Override</a:t>
            </a:r>
          </a:p>
        </p:txBody>
      </p:sp>
      <p:sp>
        <p:nvSpPr>
          <p:cNvPr id="33" name="Rectangle 32">
            <a:hlinkClick r:id="rId5" action="ppaction://hlinksldjump"/>
          </p:cNvPr>
          <p:cNvSpPr/>
          <p:nvPr/>
        </p:nvSpPr>
        <p:spPr>
          <a:xfrm>
            <a:off x="9029471" y="2542032"/>
            <a:ext cx="2796463" cy="868680"/>
          </a:xfrm>
          <a:prstGeom prst="rect">
            <a:avLst/>
          </a:prstGeom>
          <a:solidFill>
            <a:srgbClr val="68E3BE"/>
          </a:solidFill>
          <a:ln w="9525">
            <a:solidFill>
              <a:srgbClr val="68E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4063" y="2706624"/>
            <a:ext cx="24672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10232D"/>
                </a:solidFill>
                <a:latin typeface="Consolas"/>
              </a:rPr>
              <a:t>PHASE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4063" y="2944368"/>
            <a:ext cx="2467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01111"/>
                </a:solidFill>
                <a:latin typeface="Segoe UI Semibold"/>
              </a:rPr>
              <a:t>LinkZone Video Wall Takeover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93592"/>
            <a:ext cx="11460175" cy="28986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593592"/>
            <a:ext cx="11460175" cy="329184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6674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300">
                <a:solidFill>
                  <a:srgbClr val="4A5B65"/>
                </a:solidFill>
                <a:latin typeface="Consolas"/>
              </a:rPr>
              <a:t>PHASE 04 — DETAIL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32504"/>
            <a:ext cx="128016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400" b="1">
                <a:solidFill>
                  <a:srgbClr val="68E3BE"/>
                </a:solidFill>
                <a:latin typeface="Consola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087368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8242B"/>
                </a:solidFill>
                <a:latin typeface="Segoe UI Semibold"/>
              </a:rPr>
              <a:t>LinkZone Video Wall – Names &amp; Mounts Override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471416"/>
            <a:ext cx="981425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B65"/>
                </a:solidFill>
                <a:latin typeface="Segoe UI"/>
              </a:rPr>
              <a:t>Take over the LinkZone video wall via a TelemetryTV media player, replacing the daily video and dynamically rendering the winner's Name and Mount.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5038344"/>
            <a:ext cx="9814255" cy="9144"/>
          </a:xfrm>
          <a:prstGeom prst="rect">
            <a:avLst/>
          </a:prstGeom>
          <a:solidFill>
            <a:srgbClr val="E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0" y="5093208"/>
            <a:ext cx="39257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SYSTEMS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5349240"/>
            <a:ext cx="16111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56816" y="5385816"/>
            <a:ext cx="13551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LinkZone Video Wall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13124" y="5349240"/>
            <a:ext cx="196778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41140" y="5385816"/>
            <a:ext cx="17117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TelemetryTV Media Player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5660136"/>
            <a:ext cx="1397203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56816" y="5696712"/>
            <a:ext cx="114117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Jackpot Data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9155" y="5660136"/>
            <a:ext cx="175381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27171" y="5696712"/>
            <a:ext cx="149778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A5B65"/>
                </a:solidFill>
                <a:latin typeface="Segoe UI"/>
              </a:rPr>
              <a:t>LUCI Scripting Engine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214" y="5093208"/>
            <a:ext cx="5397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7C8C95"/>
                </a:solidFill>
                <a:latin typeface="Consolas"/>
              </a:rPr>
              <a:t>SCOPE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214" y="53492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8E3BE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094" y="5340096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Provision TelemetryTV media player on the LinkZone wall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214" y="560527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8E3BE"/>
                </a:solidFill>
                <a:latin typeface="Consola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094" y="5596128"/>
            <a:ext cx="5214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8242B"/>
                </a:solidFill>
                <a:latin typeface="Segoe UI"/>
              </a:rPr>
              <a:t>Author override template driven by Name + </a:t>
            </a:r>
            <a:r>
              <a:rPr sz="1050" b="0" dirty="0" err="1">
                <a:solidFill>
                  <a:srgbClr val="18242B"/>
                </a:solidFill>
                <a:latin typeface="Segoe UI"/>
              </a:rPr>
              <a:t>ount</a:t>
            </a:r>
            <a:r>
              <a:rPr sz="1050" b="0" dirty="0">
                <a:solidFill>
                  <a:srgbClr val="18242B"/>
                </a:solidFill>
                <a:latin typeface="Segoe UI"/>
              </a:rPr>
              <a:t> data fields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214" y="5861304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8E3BE"/>
                </a:solidFill>
                <a:latin typeface="Consolas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8094" y="5852160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API hook to push winner data on trigger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214" y="6117336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8E3BE"/>
                </a:solidFill>
                <a:latin typeface="Consola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8094" y="6108192"/>
            <a:ext cx="521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8242B"/>
                </a:solidFill>
                <a:latin typeface="Segoe UI"/>
              </a:rPr>
              <a:t>Restore daily video automatically after celebration window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83680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C8C95"/>
                </a:solidFill>
                <a:latin typeface="Segoe UI"/>
              </a:rPr>
              <a:t>Prepared for Jamul Casino · LUCI scope &amp; responsibilities discussion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335" y="6583680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>
                <a:solidFill>
                  <a:srgbClr val="7C8C95"/>
                </a:solidFill>
                <a:latin typeface="Segoe UI"/>
              </a:rPr>
              <a:t>Phase 04  ·  Draft v0.1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BA32C61-14E4-FBEB-74AA-D5DFEC82A6E7}"/>
              </a:ext>
            </a:extLst>
          </p:cNvPr>
          <p:cNvSpPr/>
          <p:nvPr/>
        </p:nvSpPr>
        <p:spPr>
          <a:xfrm>
            <a:off x="10780901" y="369027"/>
            <a:ext cx="10972" cy="640080"/>
          </a:xfrm>
          <a:prstGeom prst="rect">
            <a:avLst/>
          </a:prstGeom>
          <a:solidFill>
            <a:srgbClr val="4A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jamul-stacked.png">
            <a:extLst>
              <a:ext uri="{FF2B5EF4-FFF2-40B4-BE49-F238E27FC236}">
                <a16:creationId xmlns:a16="http://schemas.microsoft.com/office/drawing/2014/main" id="{DC73C5AD-91B5-38A9-547B-8588107D5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434" y="218151"/>
            <a:ext cx="946404" cy="630936"/>
          </a:xfrm>
          <a:prstGeom prst="rect">
            <a:avLst/>
          </a:prstGeom>
        </p:spPr>
      </p:pic>
      <p:pic>
        <p:nvPicPr>
          <p:cNvPr id="67" name="Picture 66" descr="luci-wordmark-white.png">
            <a:extLst>
              <a:ext uri="{FF2B5EF4-FFF2-40B4-BE49-F238E27FC236}">
                <a16:creationId xmlns:a16="http://schemas.microsoft.com/office/drawing/2014/main" id="{273C5D34-7211-C69E-59EE-25C710D9A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598" y="487899"/>
            <a:ext cx="1908313" cy="411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840</Words>
  <Application>Microsoft Office PowerPoint</Application>
  <PresentationFormat>Widescreen</PresentationFormat>
  <Paragraphs>151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Epstein</cp:lastModifiedBy>
  <cp:revision>5</cp:revision>
  <dcterms:created xsi:type="dcterms:W3CDTF">2013-01-27T09:14:16Z</dcterms:created>
  <dcterms:modified xsi:type="dcterms:W3CDTF">2026-05-08T02:50:57Z</dcterms:modified>
  <cp:category/>
</cp:coreProperties>
</file>